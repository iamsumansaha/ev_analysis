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64" r:id="rId18"/>
  </p:sldIdLst>
  <p:sldSz cx="14630400" cy="8229600"/>
  <p:notesSz cx="8229600" cy="14630400"/>
  <p:embeddedFontLst>
    <p:embeddedFont>
      <p:font typeface="Inter Light" panose="020B0604020202020204" charset="0"/>
      <p:regular r:id="rId20"/>
    </p:embeddedFont>
    <p:embeddedFont>
      <p:font typeface="Montserrat Medium" panose="00000600000000000000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2725698"/>
            <a:ext cx="11095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Electric Vehicle Analytics using MySQL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25203"/>
            <a:ext cx="1216366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Uncovering Efficiency, Cost &amp; Environmental Insights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443234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By:</a:t>
            </a: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Suman Saha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1410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Tools Used: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MySQL, CTEs, Window Functions, Aggregation, Correlation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85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327707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Electric Vehicles (EVs) are transforming transportation worldwide.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821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project uses </a:t>
            </a: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realistic EV data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to explore: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243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(Range, Acceleration)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665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Cost (Maintenance, Charging, Insurance)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087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Sustainability (CO₂ Savings, Battery Health)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008477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Goal: Derive insights that help manufacturers, policymakers, and customers.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4276"/>
            <a:ext cx="57236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Description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7289"/>
            <a:ext cx="488501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Database:</a:t>
            </a: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EV_ANALYTICS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34872"/>
            <a:ext cx="488501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Table:</a:t>
            </a: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ELECTRIC_VEHICLES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2454"/>
            <a:ext cx="488501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Total Columns:</a:t>
            </a: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24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39828" y="310003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Columns: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6239828" y="375213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⚡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Battery_Capacity_kWh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Total energy capacity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39828" y="419433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🔋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Battery_Health_Percent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Battery efficiency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39828" y="463653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🛣️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Range_km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Distance per charge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39828" y="507873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💰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Maintenance_Cost_USD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Insurance_Cost_USD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Resale_Value_USD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39828" y="552092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🌍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CO2_Saved_tons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Environmental impact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39828" y="596312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🚗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Usage_Type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Personal or Commercial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1327"/>
            <a:ext cx="56811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08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Main Questions: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606284"/>
            <a:ext cx="6407944" cy="1177528"/>
          </a:xfrm>
          <a:prstGeom prst="roundRect">
            <a:avLst>
              <a:gd name="adj" fmla="val 1733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224" y="3840718"/>
            <a:ext cx="59390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Which EVs offer the best efficiency and value?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3606284"/>
            <a:ext cx="6408063" cy="1177528"/>
          </a:xfrm>
          <a:prstGeom prst="roundRect">
            <a:avLst>
              <a:gd name="adj" fmla="val 1733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62982" y="3840718"/>
            <a:ext cx="59391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How does battery health affect performance?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5010626"/>
            <a:ext cx="6407944" cy="1177528"/>
          </a:xfrm>
          <a:prstGeom prst="roundRect">
            <a:avLst>
              <a:gd name="adj" fmla="val 1733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8224" y="5245060"/>
            <a:ext cx="59390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Which regions contribute most to CO₂ savings?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28548" y="5010626"/>
            <a:ext cx="6408063" cy="1177528"/>
          </a:xfrm>
          <a:prstGeom prst="roundRect">
            <a:avLst>
              <a:gd name="adj" fmla="val 1733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62982" y="5245060"/>
            <a:ext cx="59391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patterns can help in EV cost optimization?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009" y="0"/>
            <a:ext cx="761035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Q1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 Find the top 5 EV models with the highest range efficiency (km per kWh).</a:t>
            </a:r>
            <a:endParaRPr lang="en-US" dirty="0"/>
          </a:p>
          <a:p>
            <a:pPr marL="0" indent="0" algn="l">
              <a:lnSpc>
                <a:spcPts val="470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3790" y="2251234"/>
            <a:ext cx="7637502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1028" y="62520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515009" y="926428"/>
            <a:ext cx="7637502" cy="3064431"/>
          </a:xfrm>
          <a:prstGeom prst="roundRect">
            <a:avLst>
              <a:gd name="adj" fmla="val 566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4673" y="985415"/>
            <a:ext cx="7271028" cy="2983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SELECT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make,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model,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ROUND(AVG(Range_km / Battery_Capacity_kWh), 2) AS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Avg_rng_per_kwh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FROM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electric_vehicles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GROUP BY make, model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ORDER BY Avg_rng_per_kwh DESC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LIMIT 5;        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61628" y="2631919"/>
            <a:ext cx="6061948" cy="805093"/>
          </a:xfrm>
          <a:prstGeom prst="roundRect">
            <a:avLst>
              <a:gd name="adj" fmla="val 12022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390" y="2723022"/>
            <a:ext cx="240983" cy="1927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88135" y="2670753"/>
            <a:ext cx="5359241" cy="93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5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⚡ Reveals the </a:t>
            </a:r>
            <a:r>
              <a:rPr lang="en-US" sz="15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most energy-efficient EV models</a:t>
            </a:r>
            <a:r>
              <a:rPr lang="en-US" sz="15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helping manufacturers benchmark performance.</a:t>
            </a:r>
            <a:endParaRPr lang="en-US" sz="15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909E78C6-333E-8834-744F-BDEC3D03F719}"/>
              </a:ext>
            </a:extLst>
          </p:cNvPr>
          <p:cNvSpPr/>
          <p:nvPr/>
        </p:nvSpPr>
        <p:spPr>
          <a:xfrm>
            <a:off x="325398" y="3968838"/>
            <a:ext cx="653700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dirty="0">
                <a:solidFill>
                  <a:srgbClr val="0057E7"/>
                </a:solidFill>
                <a:latin typeface="Montserrat Medium" pitchFamily="34" charset="0"/>
              </a:rPr>
              <a:t>Q2 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</a:rPr>
              <a:t>:</a:t>
            </a:r>
            <a:r>
              <a:rPr lang="en-US" dirty="0">
                <a:solidFill>
                  <a:srgbClr val="0057E7"/>
                </a:solidFill>
                <a:latin typeface="Montserrat Medium" pitchFamily="34" charset="0"/>
              </a:rPr>
              <a:t> 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</a:rPr>
              <a:t>Identify which region has the highest average CO₂ savings per vehicle.</a:t>
            </a:r>
          </a:p>
          <a:p>
            <a:pPr>
              <a:lnSpc>
                <a:spcPts val="4700"/>
              </a:lnSpc>
            </a:pPr>
            <a:endParaRPr lang="en-US" dirty="0">
              <a:solidFill>
                <a:srgbClr val="0057E7"/>
              </a:solidFill>
              <a:latin typeface="Montserrat Medium" pitchFamily="34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4AB936D-5015-BC76-FBC3-7186196AC562}"/>
              </a:ext>
            </a:extLst>
          </p:cNvPr>
          <p:cNvSpPr/>
          <p:nvPr/>
        </p:nvSpPr>
        <p:spPr>
          <a:xfrm>
            <a:off x="793790" y="1526977"/>
            <a:ext cx="11770400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5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74DA3BF-3FD4-81B6-CF09-34C07941819F}"/>
              </a:ext>
            </a:extLst>
          </p:cNvPr>
          <p:cNvSpPr/>
          <p:nvPr/>
        </p:nvSpPr>
        <p:spPr>
          <a:xfrm>
            <a:off x="505484" y="4855219"/>
            <a:ext cx="7656552" cy="3064431"/>
          </a:xfrm>
          <a:prstGeom prst="roundRect">
            <a:avLst>
              <a:gd name="adj" fmla="val 64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6604A35-4569-AAA0-0A20-2DA3426566F4}"/>
              </a:ext>
            </a:extLst>
          </p:cNvPr>
          <p:cNvSpPr/>
          <p:nvPr/>
        </p:nvSpPr>
        <p:spPr>
          <a:xfrm>
            <a:off x="684673" y="4880970"/>
            <a:ext cx="7271028" cy="303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SELECT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region,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make,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model,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ROUND(AVG(CO2_Saved_tons),2) AS CO2_saved,  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    ROUND(AVG(Temperature_C)) AS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Avg_temp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FROM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electric_vehicles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GROUP BY region, make, model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ORDER BY region, CO2_saved DESC;</a:t>
            </a:r>
            <a:endParaRPr lang="en-US" sz="1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79D6604-4CB7-276D-4D32-D4E6BC9EDCCC}"/>
              </a:ext>
            </a:extLst>
          </p:cNvPr>
          <p:cNvSpPr/>
          <p:nvPr/>
        </p:nvSpPr>
        <p:spPr>
          <a:xfrm>
            <a:off x="601028" y="45338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8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A74F4973-85F5-62E5-836D-313E4877B25D}"/>
              </a:ext>
            </a:extLst>
          </p:cNvPr>
          <p:cNvSpPr/>
          <p:nvPr/>
        </p:nvSpPr>
        <p:spPr>
          <a:xfrm>
            <a:off x="8341225" y="6988672"/>
            <a:ext cx="6061948" cy="893902"/>
          </a:xfrm>
          <a:prstGeom prst="roundRect">
            <a:avLst>
              <a:gd name="adj" fmla="val 20991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A3035768-911C-805F-D2EC-51E93341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986" y="7281804"/>
            <a:ext cx="240983" cy="192762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13A6A55C-693D-8199-286C-96A2D1E04F8F}"/>
              </a:ext>
            </a:extLst>
          </p:cNvPr>
          <p:cNvSpPr/>
          <p:nvPr/>
        </p:nvSpPr>
        <p:spPr>
          <a:xfrm>
            <a:off x="8967731" y="7161363"/>
            <a:ext cx="5435442" cy="72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5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🌍 Finds </a:t>
            </a:r>
            <a:r>
              <a:rPr lang="en-US" sz="15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eco-friendly regions</a:t>
            </a:r>
            <a:r>
              <a:rPr lang="en-US" sz="15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helping target green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incentives and government policies.</a:t>
            </a:r>
            <a:endParaRPr lang="en-US" sz="15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50E787-A85E-6099-C0D7-47493E200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628" y="841985"/>
            <a:ext cx="3600475" cy="1697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EFA3A7-14A3-CF8D-AFDA-4F2328C0F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225" y="4835035"/>
            <a:ext cx="5235879" cy="2038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D803410F-13E8-E104-ED76-E7BA5F0C093E}"/>
              </a:ext>
            </a:extLst>
          </p:cNvPr>
          <p:cNvSpPr/>
          <p:nvPr/>
        </p:nvSpPr>
        <p:spPr>
          <a:xfrm>
            <a:off x="779383" y="91477"/>
            <a:ext cx="7087791" cy="55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Q3 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: Determine correlation between battery health and mileage.</a:t>
            </a:r>
            <a:endParaRPr lang="en-US" dirty="0"/>
          </a:p>
          <a:p>
            <a:pPr marL="0" indent="0" algn="l">
              <a:lnSpc>
                <a:spcPts val="4350"/>
              </a:lnSpc>
              <a:buNone/>
            </a:pPr>
            <a:endParaRPr lang="en-US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E6A8E5B-EE75-2AE0-EB20-2FFAF06860BE}"/>
              </a:ext>
            </a:extLst>
          </p:cNvPr>
          <p:cNvSpPr/>
          <p:nvPr/>
        </p:nvSpPr>
        <p:spPr>
          <a:xfrm>
            <a:off x="779383" y="1240274"/>
            <a:ext cx="9460468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21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C7322D83-80B8-55B5-8016-8E193F9EA154}"/>
              </a:ext>
            </a:extLst>
          </p:cNvPr>
          <p:cNvSpPr/>
          <p:nvPr/>
        </p:nvSpPr>
        <p:spPr>
          <a:xfrm>
            <a:off x="770571" y="607542"/>
            <a:ext cx="222694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75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826E9011-1CD9-A300-AF1A-EDFAA8089BEF}"/>
              </a:ext>
            </a:extLst>
          </p:cNvPr>
          <p:cNvSpPr/>
          <p:nvPr/>
        </p:nvSpPr>
        <p:spPr>
          <a:xfrm>
            <a:off x="761761" y="889406"/>
            <a:ext cx="7011353" cy="2410073"/>
          </a:xfrm>
          <a:prstGeom prst="roundRect">
            <a:avLst>
              <a:gd name="adj" fmla="val 60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DD99BF4-6134-485B-43F8-1160DEFD5658}"/>
              </a:ext>
            </a:extLst>
          </p:cNvPr>
          <p:cNvSpPr/>
          <p:nvPr/>
        </p:nvSpPr>
        <p:spPr>
          <a:xfrm>
            <a:off x="939878" y="1022995"/>
            <a:ext cx="6850858" cy="2849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SELECT   </a:t>
            </a:r>
          </a:p>
          <a:p>
            <a:pPr marL="0" indent="0"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ROUND(   </a:t>
            </a:r>
          </a:p>
          <a:p>
            <a:pPr marL="0" indent="0"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( (AVG(Battery_Health_Percent *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Mileage_km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)  -  (AVG(Battery_Health_Percent) * AVG(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Mileage_km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)))</a:t>
            </a:r>
          </a:p>
          <a:p>
            <a:pPr marL="0" indent="0"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/  (STDDEV(Battery_Health_Percent) * STDDEV(Mileage_km))    ),     3  ) AS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Battery_Mileage_Correlation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 marL="0" indent="0"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FROM electric_vehicles;</a:t>
            </a:r>
            <a:endParaRPr lang="en-US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6AB544A4-F6EC-88C9-62F2-3A6B25FF5D52}"/>
              </a:ext>
            </a:extLst>
          </p:cNvPr>
          <p:cNvSpPr/>
          <p:nvPr/>
        </p:nvSpPr>
        <p:spPr>
          <a:xfrm>
            <a:off x="7971275" y="1757244"/>
            <a:ext cx="6350622" cy="881520"/>
          </a:xfrm>
          <a:prstGeom prst="roundRect">
            <a:avLst>
              <a:gd name="adj" fmla="val 20974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155D028A-6BAD-C023-481E-B5E85B277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393" y="2029778"/>
            <a:ext cx="222647" cy="178118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ED7C8DF5-416E-BE80-E8D9-440407F6D2A3}"/>
              </a:ext>
            </a:extLst>
          </p:cNvPr>
          <p:cNvSpPr/>
          <p:nvPr/>
        </p:nvSpPr>
        <p:spPr>
          <a:xfrm>
            <a:off x="8550157" y="1979891"/>
            <a:ext cx="598284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🔋 Helps engineers understand </a:t>
            </a:r>
            <a:r>
              <a:rPr lang="en-US" sz="14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battery degradation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patterns</a:t>
            </a: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over time.</a:t>
            </a:r>
            <a:endParaRPr lang="en-US" sz="140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D8A87B13-723E-97F8-9F08-050109E6214F}"/>
              </a:ext>
            </a:extLst>
          </p:cNvPr>
          <p:cNvSpPr/>
          <p:nvPr/>
        </p:nvSpPr>
        <p:spPr>
          <a:xfrm>
            <a:off x="685323" y="3419739"/>
            <a:ext cx="7087791" cy="55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Q4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 Find vehicles that have resale value above their region's average. </a:t>
            </a:r>
            <a:endParaRPr lang="en-US" dirty="0"/>
          </a:p>
          <a:p>
            <a:pPr marL="0" indent="0" algn="l">
              <a:lnSpc>
                <a:spcPts val="4350"/>
              </a:lnSpc>
              <a:buNone/>
            </a:pPr>
            <a:endParaRPr lang="en-US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1C6C41D1-A043-0CE9-66BD-46D2607F877B}"/>
              </a:ext>
            </a:extLst>
          </p:cNvPr>
          <p:cNvSpPr/>
          <p:nvPr/>
        </p:nvSpPr>
        <p:spPr>
          <a:xfrm>
            <a:off x="676511" y="3820058"/>
            <a:ext cx="222694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75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2F33105C-D427-A1EC-A516-564EAD0D27EB}"/>
              </a:ext>
            </a:extLst>
          </p:cNvPr>
          <p:cNvSpPr/>
          <p:nvPr/>
        </p:nvSpPr>
        <p:spPr>
          <a:xfrm>
            <a:off x="667701" y="4052046"/>
            <a:ext cx="7011353" cy="4177553"/>
          </a:xfrm>
          <a:prstGeom prst="roundRect">
            <a:avLst>
              <a:gd name="adj" fmla="val 60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8FF1AA90-B55C-CEF9-1638-7D9C5B80D84B}"/>
              </a:ext>
            </a:extLst>
          </p:cNvPr>
          <p:cNvSpPr/>
          <p:nvPr/>
        </p:nvSpPr>
        <p:spPr>
          <a:xfrm>
            <a:off x="845818" y="4098308"/>
            <a:ext cx="6655118" cy="388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WITH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cte_avg_resale_value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AS (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SELECT  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region,  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make,  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model,  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year,  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Resale_Value_USD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AS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,  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  ROUND(AVG(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Resale_Value_USD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) OVER(PARTITION BY region),2) AS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region_avg_resale_value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FROM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electric_vehicles</a:t>
            </a:r>
            <a:endParaRPr lang="en-US" sz="1600" dirty="0">
              <a:solidFill>
                <a:srgbClr val="3D3E44"/>
              </a:solidFill>
              <a:highlight>
                <a:srgbClr val="F2F2F2"/>
              </a:highlight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)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SELECT   region,   make,   model,   year,  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,  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region_avg_resale_value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FROM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cte_avg_resale_value</a:t>
            </a:r>
            <a:endParaRPr lang="en-US" sz="1600" dirty="0">
              <a:solidFill>
                <a:srgbClr val="3D3E44"/>
              </a:solidFill>
              <a:highlight>
                <a:srgbClr val="F2F2F2"/>
              </a:highlight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WHERE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&gt;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region_avg_resale_value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ORDER BY region, </a:t>
            </a:r>
            <a:r>
              <a:rPr lang="en-US" sz="1600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resale_value</a:t>
            </a:r>
            <a:r>
              <a:rPr lang="en-US" sz="1600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DESC;</a:t>
            </a:r>
            <a:endParaRPr lang="en-US" sz="1600" dirty="0">
              <a:highlight>
                <a:srgbClr val="F2F2F2"/>
              </a:highlight>
            </a:endParaRPr>
          </a:p>
        </p:txBody>
      </p:sp>
      <p:sp>
        <p:nvSpPr>
          <p:cNvPr id="38" name="Shape 6"/>
          <p:cNvSpPr/>
          <p:nvPr/>
        </p:nvSpPr>
        <p:spPr>
          <a:xfrm>
            <a:off x="7813860" y="7306346"/>
            <a:ext cx="6719143" cy="784357"/>
          </a:xfrm>
          <a:prstGeom prst="roundRect">
            <a:avLst>
              <a:gd name="adj" fmla="val 20929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187" y="7528756"/>
            <a:ext cx="182880" cy="146328"/>
          </a:xfrm>
          <a:prstGeom prst="rect">
            <a:avLst/>
          </a:prstGeom>
        </p:spPr>
      </p:pic>
      <p:sp>
        <p:nvSpPr>
          <p:cNvPr id="40" name="Text 7"/>
          <p:cNvSpPr/>
          <p:nvPr/>
        </p:nvSpPr>
        <p:spPr>
          <a:xfrm>
            <a:off x="8289396" y="7489227"/>
            <a:ext cx="6048104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1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💵 Highlights brands with </a:t>
            </a:r>
            <a:r>
              <a:rPr lang="en-US" sz="115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strong resale market value</a:t>
            </a:r>
            <a:r>
              <a:rPr lang="en-US" sz="11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ideal for resale strategy or pricing.</a:t>
            </a:r>
            <a:endParaRPr lang="en-US" sz="11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3D93135-6574-59BA-84A6-13797698C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275" y="666945"/>
            <a:ext cx="2286198" cy="72396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77BA1A7-7811-452F-EFD2-EB9324A2B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3861" y="5182718"/>
            <a:ext cx="6719142" cy="2012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02FAC978-07D7-842C-9F27-ACFFA9E65FB2}"/>
              </a:ext>
            </a:extLst>
          </p:cNvPr>
          <p:cNvSpPr/>
          <p:nvPr/>
        </p:nvSpPr>
        <p:spPr>
          <a:xfrm>
            <a:off x="772358" y="116209"/>
            <a:ext cx="6875621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0"/>
              </a:lnSpc>
            </a:pPr>
            <a:r>
              <a:rPr lang="en-US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Q5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 Compare average monthly charging costs between personal and commercial usage.</a:t>
            </a:r>
            <a:endParaRPr lang="en-US" dirty="0"/>
          </a:p>
          <a:p>
            <a:pPr marL="0" indent="0" algn="l">
              <a:lnSpc>
                <a:spcPts val="4050"/>
              </a:lnSpc>
              <a:buNone/>
            </a:pPr>
            <a:endParaRPr lang="en-US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69E9B751-C49E-2CCC-5A4E-B5002498A773}"/>
              </a:ext>
            </a:extLst>
          </p:cNvPr>
          <p:cNvSpPr/>
          <p:nvPr/>
        </p:nvSpPr>
        <p:spPr>
          <a:xfrm>
            <a:off x="772358" y="598568"/>
            <a:ext cx="2068949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6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FBC71CAB-9D15-84E3-15B9-6057AFD36B3C}"/>
              </a:ext>
            </a:extLst>
          </p:cNvPr>
          <p:cNvSpPr/>
          <p:nvPr/>
        </p:nvSpPr>
        <p:spPr>
          <a:xfrm>
            <a:off x="764143" y="853691"/>
            <a:ext cx="7565818" cy="2145987"/>
          </a:xfrm>
          <a:prstGeom prst="roundRect">
            <a:avLst>
              <a:gd name="adj" fmla="val 393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A680B5E-1B94-42A5-DA85-08E4C3E7640C}"/>
              </a:ext>
            </a:extLst>
          </p:cNvPr>
          <p:cNvSpPr/>
          <p:nvPr/>
        </p:nvSpPr>
        <p:spPr>
          <a:xfrm>
            <a:off x="772359" y="885948"/>
            <a:ext cx="7557602" cy="2863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SELECT   </a:t>
            </a:r>
          </a:p>
          <a:p>
            <a:pPr lvl="1">
              <a:lnSpc>
                <a:spcPts val="205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ROUND(AVG(CASE WHEN Usage_Type = 'Personal'  THEN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Monthly_Charging_Cost_USD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  END), 2) AS Personal_Avg_Cost,   </a:t>
            </a:r>
          </a:p>
          <a:p>
            <a:pPr lvl="1">
              <a:lnSpc>
                <a:spcPts val="205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ROUND(AVG(CASE WHEN Usage_Type = 'Commercial'  THEN Monthly_Charging_Cost_USD   END), 2) AS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Commercial_Avg_Cost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 </a:t>
            </a:r>
          </a:p>
          <a:p>
            <a:pPr marL="0" indent="0" algn="l">
              <a:lnSpc>
                <a:spcPts val="20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ea typeface="Consolas Light" pitchFamily="34" charset="-122"/>
                <a:cs typeface="Consolas Light" pitchFamily="34" charset="-120"/>
              </a:rPr>
              <a:t>FROM electric_vehicles;</a:t>
            </a:r>
            <a:endParaRPr lang="en-US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6640853D-1057-5F70-E1B1-E4238F727311}"/>
              </a:ext>
            </a:extLst>
          </p:cNvPr>
          <p:cNvSpPr/>
          <p:nvPr/>
        </p:nvSpPr>
        <p:spPr>
          <a:xfrm>
            <a:off x="8433247" y="2055890"/>
            <a:ext cx="6094284" cy="943788"/>
          </a:xfrm>
          <a:prstGeom prst="roundRect">
            <a:avLst>
              <a:gd name="adj" fmla="val 20955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CC2ACEBE-7717-2DD0-0435-85B95856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743" y="2308302"/>
            <a:ext cx="206812" cy="165497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C8340162-039A-0F85-79F4-797B6CE47573}"/>
              </a:ext>
            </a:extLst>
          </p:cNvPr>
          <p:cNvSpPr/>
          <p:nvPr/>
        </p:nvSpPr>
        <p:spPr>
          <a:xfrm>
            <a:off x="8971052" y="2262701"/>
            <a:ext cx="12382381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💰 Commercial users spend more — useful for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pricing energy plans or fleet cost forecasting</a:t>
            </a: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35FAF1F-215D-DC2C-7116-D4D647380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247" y="885948"/>
            <a:ext cx="4099915" cy="777307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1D69792B-B289-5EA2-A2C9-406B6CC24984}"/>
              </a:ext>
            </a:extLst>
          </p:cNvPr>
          <p:cNvSpPr/>
          <p:nvPr/>
        </p:nvSpPr>
        <p:spPr>
          <a:xfrm>
            <a:off x="772358" y="4707581"/>
            <a:ext cx="6875621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Q6</a:t>
            </a:r>
            <a:r>
              <a:rPr lang="en-US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</a:t>
            </a:r>
            <a:r>
              <a:rPr lang="en-US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Montserrat Medium" pitchFamily="34" charset="-120"/>
              </a:rPr>
              <a:t> </a:t>
            </a:r>
            <a:r>
              <a:rPr lang="en-US" dirty="0">
                <a:solidFill>
                  <a:srgbClr val="74767D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Find the make with the lowest maintenance cost per km.</a:t>
            </a:r>
            <a:endParaRPr lang="en-US" dirty="0">
              <a:solidFill>
                <a:srgbClr val="74767D"/>
              </a:solidFill>
            </a:endParaRPr>
          </a:p>
          <a:p>
            <a:pPr marL="0" indent="0" algn="l">
              <a:lnSpc>
                <a:spcPts val="4050"/>
              </a:lnSpc>
              <a:buNone/>
            </a:pPr>
            <a:endParaRPr lang="en-US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72401B4-ED25-A736-2FC4-46100AAFFB09}"/>
              </a:ext>
            </a:extLst>
          </p:cNvPr>
          <p:cNvSpPr/>
          <p:nvPr/>
        </p:nvSpPr>
        <p:spPr>
          <a:xfrm>
            <a:off x="772358" y="5189940"/>
            <a:ext cx="2068949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6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5E2F502B-860F-6CD6-EA75-A03799941743}"/>
              </a:ext>
            </a:extLst>
          </p:cNvPr>
          <p:cNvSpPr/>
          <p:nvPr/>
        </p:nvSpPr>
        <p:spPr>
          <a:xfrm>
            <a:off x="764143" y="5445063"/>
            <a:ext cx="7565818" cy="2778750"/>
          </a:xfrm>
          <a:prstGeom prst="roundRect">
            <a:avLst>
              <a:gd name="adj" fmla="val 64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6DA8E0A-A1A4-4622-BE27-4B0E52CFCE40}"/>
              </a:ext>
            </a:extLst>
          </p:cNvPr>
          <p:cNvSpPr/>
          <p:nvPr/>
        </p:nvSpPr>
        <p:spPr>
          <a:xfrm>
            <a:off x="772359" y="5477321"/>
            <a:ext cx="7557602" cy="16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SELECT     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make,    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ROUND(SUM(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Maintenance_Cost_USD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 / SUM(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Mileage_km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), 4) AS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Avg_Maintenance_cost_per_km</a:t>
            </a:r>
            <a:endParaRPr lang="en-US" dirty="0">
              <a:solidFill>
                <a:srgbClr val="3D3E44"/>
              </a:solidFill>
              <a:highlight>
                <a:srgbClr val="F2F2F2"/>
              </a:highlight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FROM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electric_vehicles</a:t>
            </a:r>
            <a:endParaRPr lang="en-US" dirty="0">
              <a:solidFill>
                <a:srgbClr val="3D3E44"/>
              </a:solidFill>
              <a:highlight>
                <a:srgbClr val="F2F2F2"/>
              </a:highlight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GROUP BY make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ORDER BY </a:t>
            </a:r>
            <a:r>
              <a:rPr lang="en-US" dirty="0" err="1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Avg_Maintenance_cost_per_kmLIMIT</a:t>
            </a:r>
            <a:r>
              <a:rPr lang="en-US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1;</a:t>
            </a:r>
            <a:endParaRPr lang="en-US" dirty="0">
              <a:highlight>
                <a:srgbClr val="F2F2F2"/>
              </a:highlight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253AE201-F5FC-8409-2C0A-8181053ACA28}"/>
              </a:ext>
            </a:extLst>
          </p:cNvPr>
          <p:cNvSpPr/>
          <p:nvPr/>
        </p:nvSpPr>
        <p:spPr>
          <a:xfrm>
            <a:off x="8425030" y="7227073"/>
            <a:ext cx="6094284" cy="943788"/>
          </a:xfrm>
          <a:prstGeom prst="roundRect">
            <a:avLst>
              <a:gd name="adj" fmla="val 20955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D60FF778-AF8B-D127-4DA3-F44DA53FD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526" y="7479485"/>
            <a:ext cx="206812" cy="165497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6DF59E95-5C12-DF30-6CBB-52FF1C666BF8}"/>
              </a:ext>
            </a:extLst>
          </p:cNvPr>
          <p:cNvSpPr/>
          <p:nvPr/>
        </p:nvSpPr>
        <p:spPr>
          <a:xfrm>
            <a:off x="8962835" y="7330433"/>
            <a:ext cx="12382381" cy="46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4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⚙️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Determines </a:t>
            </a:r>
            <a:r>
              <a:rPr lang="en-US" sz="14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most cost-efficient manufacturers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</a:p>
          <a:p>
            <a:pPr>
              <a:lnSpc>
                <a:spcPts val="2850"/>
              </a:lnSpc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 long-term ownership.</a:t>
            </a:r>
            <a:endParaRPr lang="en-US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5FE93D8-B8F8-79BB-D4C0-A6421F002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030" y="6057131"/>
            <a:ext cx="4099915" cy="777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112171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10: Q6 — Maintenance Efficiency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Find the make with the lowest maintenance cost per km.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67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SQL Code: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85185"/>
            <a:ext cx="13042821" cy="3243263"/>
          </a:xfrm>
          <a:prstGeom prst="roundRect">
            <a:avLst>
              <a:gd name="adj" fmla="val 629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2479" y="3385185"/>
            <a:ext cx="13065443" cy="3243263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9293" y="3555206"/>
            <a:ext cx="12611814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8835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6269"/>
            <a:ext cx="5155049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11: Q7 — Fastest Vehicles per Region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075" y="1240869"/>
            <a:ext cx="1304424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Question: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Top 3 fastest vehicle types in each region.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075" y="1926669"/>
            <a:ext cx="13044249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SQL Code: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3075" y="2358747"/>
            <a:ext cx="13044249" cy="4551164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5217" y="2358747"/>
            <a:ext cx="13059966" cy="4551164"/>
          </a:xfrm>
          <a:prstGeom prst="roundRect">
            <a:avLst>
              <a:gd name="adj" fmla="val 52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43808" y="2477691"/>
            <a:ext cx="12742783" cy="431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WITH cte_acc AS (    SELECT        region,        Vehicle_type,        ROUND(AVG(Acceleration_0_100_kmh_sec),2) AS Avg_acc,        RANK() OVER(PARTITION BY region ORDER BY AVG(Acceleration_0_100_kmh_sec) ASC) AS Rnk    FROM electric_vehicles    GROUP BY region, Vehicle_Type)SELECT    region,    vehicle_type,    Avg_acc,    RnkFROM cte_accWHERE Rnk &lt;= 3;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3075" y="7088267"/>
            <a:ext cx="13044249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🚀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Reveals </a:t>
            </a:r>
            <a:r>
              <a:rPr lang="en-US" sz="1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champions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by region — for marketing and product positioning.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19125"/>
            <a:ext cx="6091118" cy="4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Q4</a:t>
            </a:r>
            <a:r>
              <a:rPr lang="en-US" sz="2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High Resale Value Vehicles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87956" y="1134904"/>
            <a:ext cx="8302466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Question: Find vehicles that have resale value above their region's average.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87956" y="1467803"/>
            <a:ext cx="1829395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Code: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7956" y="1915954"/>
            <a:ext cx="13054489" cy="4900851"/>
          </a:xfrm>
          <a:prstGeom prst="roundRect">
            <a:avLst>
              <a:gd name="adj" fmla="val 26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0693" y="1915954"/>
            <a:ext cx="13069014" cy="4900851"/>
          </a:xfrm>
          <a:prstGeom prst="roundRect">
            <a:avLst>
              <a:gd name="adj" fmla="val 4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27021" y="2025610"/>
            <a:ext cx="12776359" cy="468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WITH cte_avg_resale_value AS (  SELECT     region,     make,     model,     year,     Resale_Value_USD AS resale_value,     ROUND(AVG(Resale_Value_USD) OVER(PARTITION BY region),2) AS region_avg_resale_value   FROM electric_vehicles)SELECT   region,   make,   model,   year,   resale_value,   region_avg_resale_value FROM cte_avg_resale_value WHERE resale_value &gt; region_avg_resale_value ORDER BY region, resale_value DESC;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18053"/>
            <a:ext cx="6545104" cy="400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12: Q8 — Best Manufacturing Year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86527" y="1445300"/>
            <a:ext cx="13057346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Question: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Find the year offering the best range-to-battery health balance.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86527" y="2368391"/>
            <a:ext cx="13057346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SQL Code: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6527" y="2950012"/>
            <a:ext cx="13057346" cy="3734753"/>
          </a:xfrm>
          <a:prstGeom prst="roundRect">
            <a:avLst>
              <a:gd name="adj" fmla="val 514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5930" y="2950012"/>
            <a:ext cx="13078539" cy="3734753"/>
          </a:xfrm>
          <a:prstGeom prst="roundRect">
            <a:avLst>
              <a:gd name="adj" fmla="val 8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89409" y="3110032"/>
            <a:ext cx="12651581" cy="341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SELECT     year,    ROUND(AVG(Range_km),2) AS avg_range,    ROUND(AVG(Battery_Health_Percent),2) AS avg_battery,    ROUND(AVG(Range_km) / AVG(Battery_Health_Percent), 2) AS range_to_batteryFROM electric_vehiclesGROUP BY yearORDER BY range_to_battery DESCLIMIT 1;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6527" y="6924913"/>
            <a:ext cx="1305734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📅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Identifies </a:t>
            </a: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optimal production years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with superior energy-to-performance ratio.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42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4008"/>
            <a:ext cx="441162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13: Q9 — Cost Consistency Check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93790" y="3041452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Detect inconsistent electricity cost vs monthly charging cost.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93790" y="3678793"/>
            <a:ext cx="13042821" cy="2814161"/>
          </a:xfrm>
          <a:prstGeom prst="roundRect">
            <a:avLst>
              <a:gd name="adj" fmla="val 471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86527" y="3678793"/>
            <a:ext cx="13057346" cy="2814161"/>
          </a:xfrm>
          <a:prstGeom prst="roundRect">
            <a:avLst>
              <a:gd name="adj" fmla="val 7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33926" y="3789283"/>
            <a:ext cx="12762548" cy="2593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SELECT    make,    model,    ROUND(AVG(Charging_Power_kW) / AVG(Charging_Time_hr),2) AS electricity_cost,    ROUND(AVG(Monthly_Charging_Cost_USD),2) AS monthly_charging_cost,    ROUND(AVG(Monthly_Charging_Cost_USD) -           (AVG(Charging_Power_kW) / AVG(Charging_Time_hr)),2) AS inconsistencyFROM electric_vehiclesGROUP BY make, modelORDER BY inconsistency DESC;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3790" y="6658808"/>
            <a:ext cx="13042821" cy="869633"/>
          </a:xfrm>
          <a:prstGeom prst="roundRect">
            <a:avLst>
              <a:gd name="adj" fmla="val 15259"/>
            </a:avLst>
          </a:prstGeom>
          <a:solidFill>
            <a:srgbClr val="D0D2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89" y="6881574"/>
            <a:ext cx="184190" cy="1473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2778" y="6842998"/>
            <a:ext cx="12416433" cy="47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1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⚠️ Detects </a:t>
            </a:r>
            <a:r>
              <a:rPr lang="en-US" sz="1150" b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billing or data recording issues</a:t>
            </a:r>
            <a:r>
              <a:rPr lang="en-US" sz="11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 energy systems.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0950"/>
            <a:ext cx="800481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14: Q10 — Economical Ownership Ranking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765816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Question: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Rank vehicle models by total ownership cost.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69783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SQL Code: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3285053"/>
            <a:ext cx="13042821" cy="3081576"/>
          </a:xfrm>
          <a:prstGeom prst="roundRect">
            <a:avLst>
              <a:gd name="adj" fmla="val 629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3074" y="3285053"/>
            <a:ext cx="13064252" cy="3081576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98458" y="3446621"/>
            <a:ext cx="12633484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SELECT    make,    model,    SUM(Maintenance_Cost_USD + Insurance_Cost_USD + Monthly_Charging_Cost_USD) AS total_ownership_cost,    RANK() OVER(ORDER BY SUM(Maintenance_Cost_USD + Insurance_Cost_USD + Monthly_Charging_Cost_USD) ASC) AS RnkFROM electric_vehiclesGROUP BY make, model;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3790" y="6609040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🏆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Helps identify </a:t>
            </a: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most budget-friendly EV models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long-term ownership.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8701"/>
            <a:ext cx="549973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15: Key Insights Summary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191762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27621" y="204513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20604" y="2824877"/>
            <a:ext cx="48351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5 efficient EVs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by range/kWh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191762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462498" y="204513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55362" y="2824877"/>
            <a:ext cx="3631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CO₂ leadership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by region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3632835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27621" y="376035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020604" y="4540091"/>
            <a:ext cx="5569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Battery-miles correlation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longevity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28548" y="3632835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62498" y="376035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655362" y="4540091"/>
            <a:ext cx="4571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Cost-efficient brands &amp; models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3790" y="5348049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27621" y="54755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020604" y="6255306"/>
            <a:ext cx="59543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Optimal production years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design reference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28548" y="5348049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462498" y="54755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6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7655362" y="6255306"/>
            <a:ext cx="59544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Data-driven improvements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pricing &amp; sustainability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8983"/>
            <a:ext cx="4389001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🟩</a:t>
            </a:r>
            <a:r>
              <a:rPr lang="en-US" sz="26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65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Slide 16: Future Scope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888813"/>
            <a:ext cx="42388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Add </a:t>
            </a: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predictive modeling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EV lifespan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275523"/>
            <a:ext cx="4564975" cy="45649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62" y="3567232"/>
            <a:ext cx="318968" cy="3189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97628" y="2888813"/>
            <a:ext cx="423898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Include </a:t>
            </a: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charging station data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geo-analysis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275523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6713" y="3567232"/>
            <a:ext cx="318968" cy="3189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597628" y="5341382"/>
            <a:ext cx="423898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Build </a:t>
            </a: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Power BI dashboards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management insights</a:t>
            </a:r>
            <a:endParaRPr lang="en-US" sz="2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275523"/>
            <a:ext cx="4564975" cy="456497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86713" y="5229582"/>
            <a:ext cx="318968" cy="31896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93790" y="5164217"/>
            <a:ext cx="423886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Combine with </a:t>
            </a: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weather &amp; grid data</a:t>
            </a: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deeper sustainability metrics</a:t>
            </a:r>
            <a:endParaRPr lang="en-US" sz="22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275523"/>
            <a:ext cx="4564975" cy="4564975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4362" y="5229582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2201228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0057E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793790" y="3959066"/>
            <a:ext cx="887527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Electric Vehicle Analytics using MySQL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486620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Uncovering Efficiency, Cost &amp; Environmental Insights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57486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By: Suman Saha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2358" y="1190387"/>
            <a:ext cx="118975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72358" y="2359104"/>
            <a:ext cx="6340912" cy="2896076"/>
          </a:xfrm>
          <a:prstGeom prst="roundRect">
            <a:avLst>
              <a:gd name="adj" fmla="val 51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935004"/>
            <a:ext cx="4755594" cy="4755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1553</Words>
  <Application>Microsoft Office PowerPoint</Application>
  <PresentationFormat>Custom</PresentationFormat>
  <Paragraphs>161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Consolas Light</vt:lpstr>
      <vt:lpstr>Inter Light</vt:lpstr>
      <vt:lpstr>Montserrat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Mr. SAHA</cp:lastModifiedBy>
  <cp:revision>5</cp:revision>
  <dcterms:created xsi:type="dcterms:W3CDTF">2025-10-29T13:05:52Z</dcterms:created>
  <dcterms:modified xsi:type="dcterms:W3CDTF">2025-10-29T17:53:17Z</dcterms:modified>
</cp:coreProperties>
</file>